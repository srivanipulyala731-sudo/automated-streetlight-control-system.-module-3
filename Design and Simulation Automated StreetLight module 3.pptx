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MS PGothic" panose="020B0600070205080204" pitchFamily="34" charset="-128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JetBrains Mono"/>
      <p:bold r:id="rId19"/>
    </p:embeddedFont>
    <p:embeddedFont>
      <p:font typeface="Plus Jakarta Sans"/>
      <p:bold r:id="rId20"/>
      <p: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92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828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07929" y="1365337"/>
            <a:ext cx="61127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IN" b="1" dirty="0">
                <a:solidFill>
                  <a:srgbClr val="FFFFFF"/>
                </a:solidFill>
                <a:latin typeface="Calibri"/>
                <a:ea typeface="Aptos"/>
                <a:cs typeface="Aptos"/>
              </a:rPr>
              <a:t>AUTOMATED</a:t>
            </a:r>
          </a:p>
          <a:p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IN" b="1" dirty="0">
                <a:solidFill>
                  <a:srgbClr val="FFFFFF"/>
                </a:solidFill>
                <a:latin typeface="Calibri"/>
                <a:ea typeface="Aptos"/>
                <a:cs typeface="Aptos"/>
              </a:rPr>
              <a:t>STREETLIGHT</a:t>
            </a:r>
          </a:p>
          <a:p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IN" b="1" dirty="0">
                <a:solidFill>
                  <a:srgbClr val="FFFFFF"/>
                </a:solidFill>
                <a:latin typeface="Calibri"/>
                <a:ea typeface="Aptos"/>
                <a:cs typeface="Aptos"/>
              </a:rPr>
              <a:t>CONTROL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933188" y="3759070"/>
            <a:ext cx="7797452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IN" dirty="0">
                <a:solidFill>
                  <a:srgbClr val="FFFFFF"/>
                </a:solidFill>
                <a:latin typeface="Calibri"/>
                <a:ea typeface="Aptos"/>
                <a:cs typeface="Aptos"/>
              </a:rPr>
              <a:t>2620040081  </a:t>
            </a:r>
            <a:r>
              <a:rPr lang="en-IN" dirty="0" err="1">
                <a:solidFill>
                  <a:srgbClr val="FFFFFF"/>
                </a:solidFill>
                <a:latin typeface="Calibri"/>
                <a:ea typeface="Aptos"/>
                <a:cs typeface="Aptos"/>
              </a:rPr>
              <a:t>Mohith</a:t>
            </a:r>
            <a:endParaRPr lang="en-IN" dirty="0">
              <a:solidFill>
                <a:srgbClr val="FFFFFF"/>
              </a:solidFill>
              <a:ea typeface="Aptos"/>
              <a:cs typeface="Aptos"/>
            </a:endParaRPr>
          </a:p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IN" dirty="0">
                <a:solidFill>
                  <a:srgbClr val="FFFFFF"/>
                </a:solidFill>
                <a:latin typeface="Calibri"/>
                <a:ea typeface="Aptos"/>
                <a:cs typeface="Aptos"/>
              </a:rPr>
              <a:t>2620040083  Santhosh</a:t>
            </a:r>
          </a:p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IN" dirty="0">
                <a:solidFill>
                  <a:srgbClr val="FFFFFF"/>
                </a:solidFill>
                <a:latin typeface="Calibri"/>
                <a:ea typeface="Aptos"/>
                <a:cs typeface="Aptos"/>
              </a:rPr>
              <a:t>2620040157  </a:t>
            </a:r>
            <a:r>
              <a:rPr lang="en-IN" dirty="0" err="1">
                <a:solidFill>
                  <a:srgbClr val="FFFFFF"/>
                </a:solidFill>
                <a:latin typeface="Calibri"/>
                <a:ea typeface="Aptos"/>
                <a:cs typeface="Aptos"/>
              </a:rPr>
              <a:t>Jaideep</a:t>
            </a:r>
            <a:endParaRPr lang="en-IN" dirty="0">
              <a:solidFill>
                <a:srgbClr val="FFFFFF"/>
              </a:solidFill>
              <a:ea typeface="Aptos"/>
              <a:cs typeface="Aptos"/>
            </a:endParaRPr>
          </a:p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IN" dirty="0">
                <a:solidFill>
                  <a:srgbClr val="FFFFFF"/>
                </a:solidFill>
                <a:latin typeface="Calibri"/>
                <a:ea typeface="Aptos"/>
                <a:cs typeface="Aptos"/>
              </a:rPr>
              <a:t>2620040178  </a:t>
            </a:r>
            <a:r>
              <a:rPr lang="en-IN" dirty="0" err="1">
                <a:solidFill>
                  <a:srgbClr val="FFFFFF"/>
                </a:solidFill>
                <a:latin typeface="Calibri"/>
                <a:ea typeface="Aptos"/>
                <a:cs typeface="Aptos"/>
              </a:rPr>
              <a:t>Anudeepika</a:t>
            </a:r>
            <a:endParaRPr lang="en-IN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IN" dirty="0">
                <a:solidFill>
                  <a:srgbClr val="FFFFFF"/>
                </a:solidFill>
                <a:latin typeface="Calibri"/>
                <a:ea typeface="Aptos"/>
                <a:cs typeface="Aptos"/>
              </a:rPr>
              <a:t>2620040179  </a:t>
            </a:r>
            <a:r>
              <a:rPr lang="en-IN" dirty="0" err="1">
                <a:solidFill>
                  <a:srgbClr val="FFFFFF"/>
                </a:solidFill>
                <a:latin typeface="Calibri"/>
                <a:ea typeface="Aptos"/>
                <a:cs typeface="Aptos"/>
              </a:rPr>
              <a:t>Srivani</a:t>
            </a:r>
            <a:endParaRPr lang="en-IN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33188" y="3173965"/>
            <a:ext cx="6377247" cy="334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575" b="0">
                <a:solidFill>
                  <a:srgbClr val="C9E7F8"/>
                </a:solidFill>
                <a:latin typeface="Aptos"/>
                <a:ea typeface="Aptos"/>
                <a:cs typeface="Aptos"/>
              </a:defRPr>
            </a:pPr>
            <a:r>
              <a:rPr lang="en-IN" dirty="0">
                <a:solidFill>
                  <a:srgbClr val="C9E7F8"/>
                </a:solidFill>
                <a:latin typeface="Calibri"/>
                <a:ea typeface="Aptos"/>
                <a:cs typeface="Aptos"/>
              </a:rPr>
              <a:t>Mini Project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6158" y="5454460"/>
            <a:ext cx="609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8E5EF"/>
                </a:solidFill>
                <a:latin typeface="Aptos"/>
                <a:ea typeface="Aptos"/>
                <a:cs typeface="Aptos"/>
              </a:defRPr>
            </a:pPr>
            <a:r>
              <a:rPr lang="en-IN" dirty="0">
                <a:solidFill>
                  <a:srgbClr val="D8E5EF"/>
                </a:solidFill>
                <a:latin typeface="Calibri"/>
                <a:ea typeface="Aptos"/>
                <a:cs typeface="Aptos"/>
              </a:rPr>
              <a:t>Department of ECE</a:t>
            </a:r>
          </a:p>
          <a:p>
            <a:pPr>
              <a:defRPr sz="1200" b="0">
                <a:solidFill>
                  <a:srgbClr val="D8E5EF"/>
                </a:solidFill>
                <a:latin typeface="Aptos"/>
                <a:ea typeface="Aptos"/>
                <a:cs typeface="Aptos"/>
              </a:defRPr>
            </a:pPr>
            <a:r>
              <a:rPr lang="en-IN" dirty="0" smtClean="0">
                <a:solidFill>
                  <a:srgbClr val="D8E5EF"/>
                </a:solidFill>
                <a:latin typeface="Calibri"/>
                <a:ea typeface="Aptos"/>
                <a:cs typeface="Aptos"/>
              </a:rPr>
              <a:t>College: KLH </a:t>
            </a:r>
            <a:r>
              <a:rPr lang="en-IN" dirty="0" smtClean="0">
                <a:solidFill>
                  <a:srgbClr val="D8E5EF"/>
                </a:solidFill>
                <a:latin typeface="Calibri"/>
                <a:ea typeface="Aptos"/>
                <a:cs typeface="Aptos"/>
              </a:rPr>
              <a:t>University</a:t>
            </a:r>
            <a:endParaRPr lang="en-IN" dirty="0">
              <a:solidFill>
                <a:srgbClr val="D8E5EF"/>
              </a:solidFill>
              <a:ea typeface="Aptos"/>
              <a:cs typeface="Aptos"/>
            </a:endParaRPr>
          </a:p>
          <a:p>
            <a:pPr>
              <a:defRPr sz="1200" b="0">
                <a:solidFill>
                  <a:srgbClr val="D8E5EF"/>
                </a:solidFill>
                <a:latin typeface="Aptos"/>
                <a:ea typeface="Aptos"/>
                <a:cs typeface="Aptos"/>
              </a:defRPr>
            </a:pPr>
            <a:r>
              <a:rPr lang="en-IN" dirty="0">
                <a:solidFill>
                  <a:srgbClr val="D8E5EF"/>
                </a:solidFill>
                <a:latin typeface="Calibri"/>
                <a:ea typeface="Aptos"/>
                <a:cs typeface="Aptos"/>
              </a:rPr>
              <a:t>Academic Year: 2026–27</a:t>
            </a:r>
            <a:endParaRPr lang="en-IN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1008345" y="3663863"/>
            <a:ext cx="2730674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71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2044898"/>
            <a:ext cx="6492180" cy="8572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3073598"/>
            <a:ext cx="6492180" cy="8572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4102298"/>
            <a:ext cx="6492180" cy="8572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5130998"/>
            <a:ext cx="6492180" cy="504825"/>
          </a:xfrm>
          <a:prstGeom prst="roundRect">
            <a:avLst>
              <a:gd name="adj" fmla="val 2264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2044898"/>
            <a:ext cx="38100" cy="8572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3073598"/>
            <a:ext cx="38100" cy="85725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4102298"/>
            <a:ext cx="38100" cy="8572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380" y="1241970"/>
            <a:ext cx="4328219" cy="519692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380" y="1241970"/>
            <a:ext cx="4328219" cy="51969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19100"/>
            <a:ext cx="202138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Calibri"/>
              </a:rPr>
              <a:t>PROBLEM STATEMENT &amp;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47700"/>
            <a:ext cx="4454681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Calibri"/>
              </a:rPr>
              <a:t>Why </a:t>
            </a:r>
            <a:r>
              <a:rPr sz="2400" b="1" i="0" u="none" dirty="0">
                <a:solidFill>
                  <a:srgbClr val="0F172A"/>
                </a:solidFill>
                <a:latin typeface="Calibri"/>
              </a:rPr>
              <a:t>Automate</a:t>
            </a:r>
            <a:r>
              <a:rPr sz="2400" b="1" i="0" u="none" dirty="0">
                <a:solidFill>
                  <a:srgbClr val="0F172A"/>
                </a:solidFill>
                <a:latin typeface="Calibri"/>
              </a:rPr>
              <a:t> Street Lighting?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235398"/>
            <a:ext cx="114499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Calibri"/>
              </a:rPr>
              <a:t>1. Energy Waste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2511623"/>
            <a:ext cx="55006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Calibri"/>
              </a:rPr>
              <a:t>Fixed-schedule</a:t>
            </a:r>
            <a:r>
              <a:rPr sz="1200" b="0" i="0" u="none" dirty="0">
                <a:solidFill>
                  <a:srgbClr val="475569"/>
                </a:solidFill>
                <a:latin typeface="Calibri"/>
              </a:rPr>
              <a:t> or manual lamps burn at full power in daylight and on empty roads.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264098"/>
            <a:ext cx="113973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Calibri"/>
              </a:rPr>
              <a:t>2. Safety </a:t>
            </a:r>
            <a:r>
              <a:rPr sz="1350" b="1" i="0" u="none" dirty="0">
                <a:solidFill>
                  <a:srgbClr val="0F172A"/>
                </a:solidFill>
                <a:latin typeface="Calibri"/>
              </a:rPr>
              <a:t>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3540323"/>
            <a:ext cx="394499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Calibri"/>
              </a:rPr>
              <a:t>Roads must </a:t>
            </a:r>
            <a:r>
              <a:rPr sz="1200" b="0" i="0" u="none" dirty="0">
                <a:solidFill>
                  <a:srgbClr val="475569"/>
                </a:solidFill>
                <a:latin typeface="Calibri"/>
              </a:rPr>
              <a:t>be</a:t>
            </a:r>
            <a:r>
              <a:rPr sz="1200" b="0" i="0" u="none" dirty="0">
                <a:solidFill>
                  <a:srgbClr val="475569"/>
                </a:solidFill>
                <a:latin typeface="Calibri"/>
              </a:rPr>
              <a:t> bright when a person or vehicle is present.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292798"/>
            <a:ext cx="87524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Calibri"/>
              </a:rPr>
              <a:t>3. Our </a:t>
            </a:r>
            <a:r>
              <a:rPr sz="1350" b="1" i="0" u="none" dirty="0">
                <a:solidFill>
                  <a:srgbClr val="0F172A"/>
                </a:solidFill>
                <a:latin typeface="Calibri"/>
                <a:ea typeface="MS PGothic" panose="020B0600070205080204" pitchFamily="34" charset="-128"/>
              </a:rPr>
              <a:t>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4569023"/>
            <a:ext cx="7496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Calibri"/>
              </a:rPr>
              <a:t>Lamp ON only when dark, bright only when needed, with a manual override.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283398"/>
            <a:ext cx="126925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369A1"/>
                </a:solidFill>
                <a:latin typeface="Calibri"/>
              </a:rPr>
              <a:t>System Output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3080" y="5288160"/>
            <a:ext cx="313226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C4A6E"/>
                </a:solidFill>
                <a:latin typeface="Calibri"/>
              </a:rPr>
              <a:t>3 Inputs → 2 Signals → 3 States (OFF · DIM · BRIGHT)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4564260"/>
            <a:ext cx="11125200" cy="1009650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8162" y="3006923"/>
            <a:ext cx="31122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0456" y="3006923"/>
            <a:ext cx="40015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51998" y="3006923"/>
            <a:ext cx="4001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8162" y="3445073"/>
            <a:ext cx="31122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0456" y="3445073"/>
            <a:ext cx="40015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51998" y="3445073"/>
            <a:ext cx="4001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8162" y="3883223"/>
            <a:ext cx="31122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0456" y="3883223"/>
            <a:ext cx="40015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51998" y="3883223"/>
            <a:ext cx="4001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792860"/>
            <a:ext cx="161925" cy="16192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33400" y="2106810"/>
            <a:ext cx="11125200" cy="22288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258638"/>
              </p:ext>
            </p:extLst>
          </p:nvPr>
        </p:nvGraphicFramePr>
        <p:xfrm>
          <a:off x="533400" y="2106810"/>
          <a:ext cx="11115673" cy="2228850"/>
        </p:xfrm>
        <a:graphic>
          <a:graphicData uri="http://schemas.openxmlformats.org/drawingml/2006/table">
            <a:tbl>
              <a:tblPr/>
              <a:tblGrid>
                <a:gridCol w="3112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1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1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8FAFC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8FAFC"/>
                          </a:solidFill>
                          <a:latin typeface="Calibri"/>
                        </a:rPr>
                        <a:t>Combinational</a:t>
                      </a:r>
                      <a:r>
                        <a:rPr sz="1200" b="1" i="0" u="none" dirty="0">
                          <a:solidFill>
                            <a:srgbClr val="F8FAFC"/>
                          </a:solidFill>
                          <a:latin typeface="Calibri"/>
                        </a:rPr>
                        <a:t> Logic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8FAFC"/>
                          </a:solidFill>
                          <a:latin typeface="Calibri"/>
                        </a:rPr>
                        <a:t>Sequential</a:t>
                      </a:r>
                      <a:r>
                        <a:rPr sz="1200" b="1" i="0" u="none" dirty="0">
                          <a:solidFill>
                            <a:srgbClr val="F8FAFC"/>
                          </a:solidFill>
                          <a:latin typeface="Calibri"/>
                        </a:rPr>
                        <a:t> Logic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Output </a:t>
                      </a:r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depends</a:t>
                      </a:r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 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284C7"/>
                          </a:solidFill>
                          <a:latin typeface="Calibri"/>
                        </a:rPr>
                        <a:t>Present inputs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Present inputs + past 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Memory / </a:t>
                      </a:r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clock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284C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Flip-flops + clock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284C7"/>
                          </a:solidFill>
                          <a:latin typeface="Calibri"/>
                        </a:rPr>
                        <a:t>Gate-delay fast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Clock-edge paced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Street light </a:t>
                      </a:r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284C7"/>
                          </a:solidFill>
                          <a:latin typeface="Calibri"/>
                        </a:rPr>
                        <a:t>Lamp = f(dark, motion, override)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Not needed for the base rule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3400" y="419100"/>
            <a:ext cx="185627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Calibri"/>
              </a:rPr>
              <a:t>LOGIC ARCHITECTURE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47700"/>
            <a:ext cx="4534446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Calibri"/>
              </a:rPr>
              <a:t>Why Combinational Logic is Enough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4764285"/>
            <a:ext cx="2659959" cy="196208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Calibri"/>
              </a:rPr>
              <a:t>Deterministic Memoryless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5011935"/>
            <a:ext cx="106680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Calibri"/>
              </a:rPr>
              <a:t>The rule never needs to remember anything: the same three sensor readings always yield the exact same lamp state. </a:t>
            </a:r>
            <a:r>
              <a:rPr sz="1125" b="0" i="1" u="none" dirty="0">
                <a:solidFill>
                  <a:srgbClr val="64748B"/>
                </a:solidFill>
                <a:latin typeface="Calibri"/>
              </a:rPr>
              <a:t>(Comparison drawn from Module 3 sequential-logic slides)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140148"/>
            <a:ext cx="1238250" cy="447675"/>
          </a:xfrm>
          <a:prstGeom prst="roundRect">
            <a:avLst>
              <a:gd name="adj" fmla="val 212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85950" y="2130623"/>
            <a:ext cx="5139630" cy="466725"/>
          </a:xfrm>
          <a:prstGeom prst="roundRect">
            <a:avLst>
              <a:gd name="adj" fmla="val 204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740223"/>
            <a:ext cx="1266825" cy="447675"/>
          </a:xfrm>
          <a:prstGeom prst="roundRect">
            <a:avLst>
              <a:gd name="adj" fmla="val 212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14525" y="2730698"/>
            <a:ext cx="5111055" cy="466725"/>
          </a:xfrm>
          <a:prstGeom prst="roundRect">
            <a:avLst>
              <a:gd name="adj" fmla="val 204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359348"/>
            <a:ext cx="1809750" cy="485775"/>
          </a:xfrm>
          <a:prstGeom prst="roundRect">
            <a:avLst>
              <a:gd name="adj" fmla="val 19607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57450" y="3330773"/>
            <a:ext cx="4568130" cy="542925"/>
          </a:xfrm>
          <a:prstGeom prst="roundRect">
            <a:avLst>
              <a:gd name="adj" fmla="val 17543"/>
            </a:avLst>
          </a:prstGeom>
          <a:solidFill>
            <a:srgbClr val="E0F2FE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4016573"/>
            <a:ext cx="1238250" cy="447675"/>
          </a:xfrm>
          <a:prstGeom prst="roundRect">
            <a:avLst>
              <a:gd name="adj" fmla="val 212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85950" y="4007048"/>
            <a:ext cx="5139630" cy="466725"/>
          </a:xfrm>
          <a:prstGeom prst="roundRect">
            <a:avLst>
              <a:gd name="adj" fmla="val 204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3400" y="4616648"/>
            <a:ext cx="1238250" cy="447675"/>
          </a:xfrm>
          <a:prstGeom prst="roundRect">
            <a:avLst>
              <a:gd name="adj" fmla="val 212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85950" y="4607123"/>
            <a:ext cx="5139630" cy="466725"/>
          </a:xfrm>
          <a:prstGeom prst="roundRect">
            <a:avLst>
              <a:gd name="adj" fmla="val 204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380" y="1241970"/>
            <a:ext cx="4328219" cy="51969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419100"/>
            <a:ext cx="162063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Calibri"/>
              </a:rPr>
              <a:t>BLOCK</a:t>
            </a:r>
            <a:r>
              <a:rPr sz="1050" b="1" i="0" u="none" dirty="0">
                <a:solidFill>
                  <a:srgbClr val="0284C7"/>
                </a:solidFill>
                <a:latin typeface="Calibri"/>
              </a:rPr>
              <a:t> </a:t>
            </a:r>
            <a:r>
              <a:rPr sz="1050" b="1" i="0" u="none" dirty="0">
                <a:solidFill>
                  <a:srgbClr val="0284C7"/>
                </a:solidFill>
                <a:latin typeface="Calibri"/>
              </a:rPr>
              <a:t>DIAGRAM</a:t>
            </a:r>
            <a:r>
              <a:rPr sz="1050" b="1" i="0" u="none" dirty="0">
                <a:solidFill>
                  <a:srgbClr val="0284C7"/>
                </a:solidFill>
                <a:latin typeface="Calibri"/>
              </a:rPr>
              <a:t> </a:t>
            </a:r>
            <a:r>
              <a:rPr sz="1050" b="1" i="0" u="none" dirty="0">
                <a:solidFill>
                  <a:srgbClr val="0284C7"/>
                </a:solidFill>
                <a:latin typeface="Calibri"/>
              </a:rPr>
              <a:t>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47700"/>
            <a:ext cx="2579745" cy="3577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Calibri"/>
              </a:rPr>
              <a:t>System</a:t>
            </a:r>
            <a:r>
              <a:rPr sz="2400" b="1" i="0" u="none" dirty="0">
                <a:solidFill>
                  <a:srgbClr val="0F172A"/>
                </a:solidFill>
                <a:latin typeface="Calibri"/>
              </a:rPr>
              <a:t> </a:t>
            </a:r>
            <a:r>
              <a:rPr sz="2400" b="1" i="0" u="none" dirty="0">
                <a:solidFill>
                  <a:srgbClr val="0F172A"/>
                </a:solidFill>
                <a:latin typeface="Calibri"/>
              </a:rP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5245298"/>
            <a:ext cx="658743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Calibri"/>
              </a:rPr>
              <a:t>* Note: Only the highlighted logic block is designed and simulated in this study; interface modules handle digital conversion.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2273498"/>
            <a:ext cx="9906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Calibri"/>
              </a:rPr>
              <a:t>Sensors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263973"/>
            <a:ext cx="489198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Calibri"/>
              </a:rPr>
              <a:t>LDR (light)  •  PIR (motion)  •  Override switch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2873573"/>
            <a:ext cx="10191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334155"/>
                </a:solidFill>
                <a:latin typeface="Calibri"/>
              </a:rPr>
              <a:t>Conditioning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5975" y="2864048"/>
            <a:ext cx="486340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Calibri"/>
              </a:rPr>
              <a:t>Comparator / Schmitt trigger → Clean 0/1 logic levels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3511748"/>
            <a:ext cx="15621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FFFFFF"/>
                </a:solidFill>
                <a:latin typeface="Calibri"/>
              </a:rPr>
              <a:t>Combinational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8900" y="3483173"/>
            <a:ext cx="4320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Calibri"/>
              </a:rPr>
              <a:t>AND  •  OR  •  NOT gates (Focus Block)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4149923"/>
            <a:ext cx="9906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Calibri"/>
              </a:rPr>
              <a:t>Driver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140398"/>
            <a:ext cx="489198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Calibri"/>
              </a:rPr>
              <a:t>Transistor / PWM level selector circuit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" y="4749998"/>
            <a:ext cx="9906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Calibri"/>
              </a:rPr>
              <a:t>LED Lamp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740473"/>
            <a:ext cx="489198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Calibri"/>
              </a:rPr>
              <a:t>3 Physical States: OFF  •  DIM  •  BRIGHT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380" y="1241969"/>
            <a:ext cx="4328219" cy="51969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29350" y="2759273"/>
            <a:ext cx="54292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3416498"/>
            <a:ext cx="54292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4073723"/>
            <a:ext cx="54292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29350" y="4730948"/>
            <a:ext cx="54292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8162" y="3564135"/>
            <a:ext cx="1048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86210" y="3564135"/>
            <a:ext cx="1172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59124" y="3564135"/>
            <a:ext cx="31987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8162" y="4002285"/>
            <a:ext cx="1048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86210" y="4002285"/>
            <a:ext cx="1172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59124" y="4002285"/>
            <a:ext cx="31987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8162" y="4440435"/>
            <a:ext cx="1048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586210" y="4440435"/>
            <a:ext cx="1172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59124" y="4440435"/>
            <a:ext cx="31987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8162" y="4878585"/>
            <a:ext cx="1048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86210" y="4878585"/>
            <a:ext cx="1172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59124" y="4878585"/>
            <a:ext cx="31987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7660" y="3235523"/>
            <a:ext cx="523875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757660" y="3673673"/>
            <a:ext cx="523875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757660" y="4111823"/>
            <a:ext cx="523875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757660" y="4549973"/>
            <a:ext cx="657225" cy="247650"/>
          </a:xfrm>
          <a:prstGeom prst="roundRect">
            <a:avLst>
              <a:gd name="adj" fmla="val 2307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757660" y="4988123"/>
            <a:ext cx="657225" cy="247650"/>
          </a:xfrm>
          <a:prstGeom prst="roundRect">
            <a:avLst>
              <a:gd name="adj" fmla="val 2307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33400" y="2664023"/>
            <a:ext cx="5429250" cy="26670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560467"/>
              </p:ext>
            </p:extLst>
          </p:nvPr>
        </p:nvGraphicFramePr>
        <p:xfrm>
          <a:off x="533400" y="2664023"/>
          <a:ext cx="5419723" cy="2667000"/>
        </p:xfrm>
        <a:graphic>
          <a:graphicData uri="http://schemas.openxmlformats.org/drawingml/2006/table">
            <a:tbl>
              <a:tblPr/>
              <a:tblGrid>
                <a:gridCol w="1048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8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8FAFC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8FAFC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8FAFC"/>
                          </a:solidFill>
                          <a:latin typeface="Calibri"/>
                        </a:rPr>
                        <a:t>Meaning</a:t>
                      </a:r>
                      <a:r>
                        <a:rPr sz="1200" b="1" i="0" u="none" dirty="0">
                          <a:solidFill>
                            <a:srgbClr val="F8FAFC"/>
                          </a:solidFill>
                          <a:latin typeface="Calibri"/>
                        </a:rPr>
                        <a:t> when active (= 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Dark (LDR sensor below threshold)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Motion / vehicle detected by PIR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Manual override switch 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BRIGHT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Lamp at full power brightness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DIM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Calibri"/>
                        </a:rPr>
                        <a:t>Lamp at low, energy-saving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33400" y="419100"/>
            <a:ext cx="145873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Calibri"/>
              </a:rPr>
              <a:t>SYSTEM I/O </a:t>
            </a:r>
            <a:r>
              <a:rPr sz="1050" b="1" i="0" u="none" dirty="0">
                <a:solidFill>
                  <a:srgbClr val="0284C7"/>
                </a:solidFill>
                <a:latin typeface="Calibri"/>
              </a:rPr>
              <a:t>DEFINITION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47700"/>
            <a:ext cx="4560544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Calibri"/>
              </a:rPr>
              <a:t>Signals</a:t>
            </a:r>
            <a:r>
              <a:rPr sz="2400" b="1" i="0" u="none" dirty="0">
                <a:solidFill>
                  <a:srgbClr val="0F172A"/>
                </a:solidFill>
                <a:latin typeface="Calibri"/>
              </a:rPr>
              <a:t> </a:t>
            </a:r>
            <a:r>
              <a:rPr sz="2400" b="1" i="0" u="none" dirty="0">
                <a:solidFill>
                  <a:srgbClr val="0F172A"/>
                </a:solidFill>
                <a:latin typeface="Calibri"/>
              </a:rPr>
              <a:t>and</a:t>
            </a:r>
            <a:r>
              <a:rPr sz="2400" b="1" i="0" u="none" dirty="0">
                <a:solidFill>
                  <a:srgbClr val="0F172A"/>
                </a:solidFill>
                <a:latin typeface="Calibri"/>
              </a:rPr>
              <a:t> Design Specification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2349698"/>
            <a:ext cx="116769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Calibri"/>
              </a:rPr>
              <a:t>Signal </a:t>
            </a:r>
            <a:r>
              <a:rPr sz="1200" b="1" i="0" u="none" dirty="0">
                <a:solidFill>
                  <a:srgbClr val="0F172A"/>
                </a:solidFill>
                <a:latin typeface="Calibri"/>
              </a:rPr>
              <a:t>Dictionary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9350" y="2425898"/>
            <a:ext cx="15549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Calibri"/>
              </a:rPr>
              <a:t>Operating</a:t>
            </a:r>
            <a:r>
              <a:rPr sz="1200" b="1" i="0" u="none" dirty="0">
                <a:solidFill>
                  <a:srgbClr val="0F172A"/>
                </a:solidFill>
                <a:latin typeface="Calibri"/>
              </a:rPr>
              <a:t> Logic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275" y="2930723"/>
            <a:ext cx="122469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Calibri"/>
              </a:rPr>
              <a:t>Daylight, no override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63275" y="2921198"/>
            <a:ext cx="41998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64748B"/>
                </a:solidFill>
                <a:latin typeface="Calibri"/>
              </a:rPr>
              <a:t>→ 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275" y="3587948"/>
            <a:ext cx="94577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Calibri"/>
              </a:rPr>
              <a:t>Dark, no motion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63275" y="3578423"/>
            <a:ext cx="44884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D97706"/>
                </a:solidFill>
                <a:latin typeface="Calibri"/>
              </a:rPr>
              <a:t>→ DIM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275" y="4245173"/>
            <a:ext cx="138820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Calibri"/>
              </a:rPr>
              <a:t>Dark + motion detected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77525" y="4235648"/>
            <a:ext cx="66204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Calibri"/>
              </a:rPr>
              <a:t>→ BRIGHT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275" y="4902398"/>
            <a:ext cx="114454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Calibri"/>
              </a:rPr>
              <a:t>Override switch 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0775" y="4892873"/>
            <a:ext cx="112954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Calibri"/>
              </a:rPr>
              <a:t>→ BRIGHT always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52910" y="3273623"/>
            <a:ext cx="4286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Calibri"/>
              </a:rPr>
              <a:t>Input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52910" y="3711773"/>
            <a:ext cx="4286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Calibri"/>
              </a:rPr>
              <a:t>Input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52910" y="4149923"/>
            <a:ext cx="4286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Calibri"/>
              </a:rPr>
              <a:t>Input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52910" y="4588073"/>
            <a:ext cx="5619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Calibri"/>
              </a:rP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52910" y="5026223"/>
            <a:ext cx="5619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Calibri"/>
              </a:rPr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30380" y="2416373"/>
            <a:ext cx="4328219" cy="1990725"/>
          </a:xfrm>
          <a:prstGeom prst="roundRect">
            <a:avLst>
              <a:gd name="adj" fmla="val 574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30380" y="4559498"/>
            <a:ext cx="4328219" cy="704850"/>
          </a:xfrm>
          <a:prstGeom prst="roundRect">
            <a:avLst>
              <a:gd name="adj" fmla="val 1621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8162" y="2749748"/>
            <a:ext cx="772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10580" y="274974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06959" y="274974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03339" y="2749748"/>
            <a:ext cx="1529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2399" y="2749748"/>
            <a:ext cx="1051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3572" y="2749748"/>
            <a:ext cx="1537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8162" y="3187898"/>
            <a:ext cx="772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10580" y="318789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06959" y="318789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03339" y="3187898"/>
            <a:ext cx="1529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2399" y="3187898"/>
            <a:ext cx="1051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3572" y="3187898"/>
            <a:ext cx="1537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8162" y="3626048"/>
            <a:ext cx="772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310580" y="362604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06959" y="362604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03339" y="3626048"/>
            <a:ext cx="1529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2399" y="3626048"/>
            <a:ext cx="1051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3572" y="3626048"/>
            <a:ext cx="1537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8162" y="4064198"/>
            <a:ext cx="772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10580" y="406419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106959" y="406419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03339" y="4064198"/>
            <a:ext cx="1529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2399" y="4064198"/>
            <a:ext cx="1051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3572" y="4064198"/>
            <a:ext cx="1537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8162" y="4502348"/>
            <a:ext cx="772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310580" y="450234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106959" y="450234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03339" y="4502348"/>
            <a:ext cx="1529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432399" y="4502348"/>
            <a:ext cx="1051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3572" y="4502348"/>
            <a:ext cx="1537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8162" y="4940498"/>
            <a:ext cx="772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310580" y="494049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106959" y="494049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903339" y="4940498"/>
            <a:ext cx="1529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32399" y="4940498"/>
            <a:ext cx="1051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3572" y="4940498"/>
            <a:ext cx="1537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38162" y="5378648"/>
            <a:ext cx="772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310580" y="537864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106959" y="5378648"/>
            <a:ext cx="7963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903339" y="5378648"/>
            <a:ext cx="1529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432399" y="5378648"/>
            <a:ext cx="1051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3572" y="5378648"/>
            <a:ext cx="1537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355" y="4769048"/>
            <a:ext cx="104775" cy="13335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533400" y="1849635"/>
            <a:ext cx="6492180" cy="39814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533400" y="1849635"/>
          <a:ext cx="6482653" cy="3981450"/>
        </p:xfrm>
        <a:graphic>
          <a:graphicData uri="http://schemas.openxmlformats.org/drawingml/2006/table">
            <a:tbl>
              <a:tblPr/>
              <a:tblGrid>
                <a:gridCol w="772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9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1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2383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8FAFC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8FAFC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8FAFC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8FAFC"/>
                          </a:solidFill>
                          <a:latin typeface="Calibri"/>
                        </a:rPr>
                        <a:t>BRIGHT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8FAFC"/>
                          </a:solidFill>
                          <a:latin typeface="Calibri"/>
                        </a:rPr>
                        <a:t>DIM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8FAFC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383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64748B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383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284C7"/>
                          </a:solidFill>
                          <a:latin typeface="Calibri"/>
                        </a:rPr>
                        <a:t>BRIGHT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383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64748B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383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284C7"/>
                          </a:solidFill>
                          <a:latin typeface="Calibri"/>
                        </a:rPr>
                        <a:t>BRIGHT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383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D97706"/>
                          </a:solidFill>
                          <a:latin typeface="Calibri"/>
                        </a:rPr>
                        <a:t>DIM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383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284C7"/>
                          </a:solidFill>
                          <a:latin typeface="Calibri"/>
                        </a:rPr>
                        <a:t>BRIGHT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383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284C7"/>
                          </a:solidFill>
                          <a:latin typeface="Calibri"/>
                        </a:rPr>
                        <a:t>BRIGHT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386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284C7"/>
                          </a:solidFill>
                          <a:latin typeface="Calibri"/>
                        </a:rPr>
                        <a:t>BRIGHT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Calibri"/>
              </a:rPr>
              <a:t>EXHAUSTIVE STATE MAPPING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System Truth Table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30405" y="2616398"/>
            <a:ext cx="46615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Calibri"/>
              </a:rPr>
              <a:t>Key Observations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1355" y="4740473"/>
            <a:ext cx="4061519" cy="34290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Calibri"/>
              </a:rPr>
              <a:t>Verified against all 8 input combinations during formal simulation.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44705" y="2873573"/>
            <a:ext cx="7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Calibri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0905" y="2892623"/>
            <a:ext cx="3832919" cy="3619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Calibri"/>
              </a:rPr>
              <a:t>BRIGHT</a:t>
            </a:r>
            <a:r>
              <a:rPr sz="1125" b="0" i="0" u="none">
                <a:solidFill>
                  <a:srgbClr val="475569"/>
                </a:solidFill>
                <a:latin typeface="Calibri"/>
              </a:rPr>
              <a:t> and </a:t>
            </a:r>
            <a:r>
              <a:rPr sz="1125" b="1" i="0" u="none">
                <a:solidFill>
                  <a:srgbClr val="475569"/>
                </a:solidFill>
                <a:latin typeface="Calibri"/>
              </a:rPr>
              <a:t>DIM</a:t>
            </a:r>
            <a:r>
              <a:rPr sz="1125" b="0" i="0" u="none">
                <a:solidFill>
                  <a:srgbClr val="475569"/>
                </a:solidFill>
                <a:latin typeface="Calibri"/>
              </a:rPr>
              <a:t> are never 1 together, ensuring mutual exclusion.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44705" y="3330773"/>
            <a:ext cx="7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Calibri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20905" y="3349823"/>
            <a:ext cx="3832919" cy="3619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Calibri"/>
              </a:rPr>
              <a:t>Two binary output bits are sufficient to represent all 3 physical states.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44705" y="3787973"/>
            <a:ext cx="7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Calibri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0905" y="3807023"/>
            <a:ext cx="3832919" cy="4000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Calibri"/>
              </a:rPr>
              <a:t>In daylight (</a:t>
            </a:r>
            <a:r>
              <a:rPr sz="1125" b="1" i="0" u="none">
                <a:solidFill>
                  <a:srgbClr val="475569"/>
                </a:solidFill>
                <a:latin typeface="Calibri"/>
              </a:rPr>
              <a:t>D=0</a:t>
            </a:r>
            <a:r>
              <a:rPr sz="1125" b="0" i="0" u="none">
                <a:solidFill>
                  <a:srgbClr val="475569"/>
                </a:solidFill>
                <a:latin typeface="Calibri"/>
              </a:rPr>
              <a:t>), the lamp remains OFF unless manual override (</a:t>
            </a:r>
            <a:r>
              <a:rPr sz="1125" b="1" i="0" u="none">
                <a:solidFill>
                  <a:srgbClr val="475569"/>
                </a:solidFill>
                <a:latin typeface="Calibri"/>
              </a:rPr>
              <a:t>O=1</a:t>
            </a:r>
            <a:r>
              <a:rPr sz="1125" b="0" i="0" u="none">
                <a:solidFill>
                  <a:srgbClr val="475569"/>
                </a:solidFill>
                <a:latin typeface="Calibri"/>
              </a:rPr>
              <a:t>) is pressed.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192535"/>
            <a:ext cx="5448300" cy="3295650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192535"/>
            <a:ext cx="5448300" cy="3295650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3875" y="2430660"/>
            <a:ext cx="14097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39375" y="2430660"/>
            <a:ext cx="11811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6287" y="3673673"/>
            <a:ext cx="1769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45556" y="3673673"/>
            <a:ext cx="15912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36826" y="3673673"/>
            <a:ext cx="1601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6287" y="4083248"/>
            <a:ext cx="1769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45556" y="4083248"/>
            <a:ext cx="15912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36826" y="4083248"/>
            <a:ext cx="1601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6287" y="4492823"/>
            <a:ext cx="1769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45556" y="4492823"/>
            <a:ext cx="15912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36826" y="4492823"/>
            <a:ext cx="1601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53187" y="3673673"/>
            <a:ext cx="1769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2456" y="3673673"/>
            <a:ext cx="15912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813726" y="3673673"/>
            <a:ext cx="1601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53187" y="4083248"/>
            <a:ext cx="1769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2456" y="4083248"/>
            <a:ext cx="15912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13726" y="4083248"/>
            <a:ext cx="1601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53187" y="4492823"/>
            <a:ext cx="1769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2456" y="4492823"/>
            <a:ext cx="15912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13726" y="4492823"/>
            <a:ext cx="1601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1525" y="2830710"/>
            <a:ext cx="4972050" cy="20859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71525" y="2830710"/>
          <a:ext cx="4962523" cy="2085975"/>
        </p:xfrm>
        <a:graphic>
          <a:graphicData uri="http://schemas.openxmlformats.org/drawingml/2006/table">
            <a:tbl>
              <a:tblPr/>
              <a:tblGrid>
                <a:gridCol w="1769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Calibri"/>
                        </a:rPr>
                        <a:t>DM \ 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Calibri"/>
                        </a:rPr>
                        <a:t>O =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Calibri"/>
                        </a:rPr>
                        <a:t>O =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6448425" y="2830710"/>
            <a:ext cx="4972050" cy="20859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48425" y="2830710"/>
          <a:ext cx="4962523" cy="2085975"/>
        </p:xfrm>
        <a:graphic>
          <a:graphicData uri="http://schemas.openxmlformats.org/drawingml/2006/table">
            <a:tbl>
              <a:tblPr/>
              <a:tblGrid>
                <a:gridCol w="1769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Calibri"/>
                        </a:rPr>
                        <a:t>DM \ 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Calibri"/>
                        </a:rPr>
                        <a:t>O =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Calibri"/>
                        </a:rPr>
                        <a:t>O =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Calibri"/>
              </a:rPr>
              <a:t>BOOLEAN MINIMIZATION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K-Map Simplification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525" y="5069085"/>
            <a:ext cx="6215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Calibri"/>
              </a:rPr>
              <a:t>Grouping:</a:t>
            </a:r>
            <a:r>
              <a:rPr sz="1050" b="0" i="0" u="none">
                <a:solidFill>
                  <a:srgbClr val="475569"/>
                </a:solidFill>
                <a:latin typeface="Calibri"/>
              </a:rPr>
              <a:t> Column O=1 gives term O; Row DM=11 gives term D·M.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8425" y="5069085"/>
            <a:ext cx="5743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Calibri"/>
              </a:rPr>
              <a:t>Single Minterm:</a:t>
            </a:r>
            <a:r>
              <a:rPr sz="1050" b="0" i="0" u="none">
                <a:solidFill>
                  <a:srgbClr val="475569"/>
                </a:solidFill>
                <a:latin typeface="Calibri"/>
              </a:rPr>
              <a:t> Active only when dark (D=1), no motion (M=0), no override (O=0).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525" y="2444948"/>
            <a:ext cx="27378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Calibri"/>
              </a:rPr>
              <a:t>BRIGHT Output Equation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9125" y="2468760"/>
            <a:ext cx="1314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Calibri"/>
              </a:rPr>
              <a:t>BRIGHT = O + D·M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8425" y="2444948"/>
            <a:ext cx="233779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Calibri"/>
              </a:rPr>
              <a:t>DIM Output Equation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4625" y="2468760"/>
            <a:ext cx="1085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Calibri"/>
              </a:rPr>
              <a:t>DIM = D·M′·O′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235398"/>
            <a:ext cx="5825430" cy="1238250"/>
          </a:xfrm>
          <a:prstGeom prst="roundRect">
            <a:avLst>
              <a:gd name="adj" fmla="val 923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3626048"/>
            <a:ext cx="582543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3425" y="4121348"/>
            <a:ext cx="139065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38375" y="4121348"/>
            <a:ext cx="1476375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29050" y="4121348"/>
            <a:ext cx="14859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3425" y="4483298"/>
            <a:ext cx="1743075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30" y="1241970"/>
            <a:ext cx="4994969" cy="519692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930" y="1356270"/>
            <a:ext cx="4766369" cy="49683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Calibri"/>
              </a:rPr>
              <a:t>LOGIC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Gate-Level Circuit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083373"/>
            <a:ext cx="592068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Calibri"/>
              </a:rPr>
              <a:t>* OFF State condition is implicitly satisfied when both BRIGHT and DIM equal 0 (OFF = D′ · O′).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425898"/>
            <a:ext cx="671028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Calibri"/>
              </a:rPr>
              <a:t>MINIMISED BOOLEAN EXPRESSIONS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692598"/>
            <a:ext cx="671028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Calibri"/>
              </a:rPr>
              <a:t>BRIGHT = O + D ·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035498"/>
            <a:ext cx="671028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25912"/>
                </a:solidFill>
                <a:latin typeface="Calibri"/>
              </a:rPr>
              <a:t>DIM = D · M′ · O′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3826073"/>
            <a:ext cx="71208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Calibri"/>
              </a:rPr>
              <a:t>Gate Inventory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4159448"/>
            <a:ext cx="1295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Calibri"/>
              </a:rPr>
              <a:t>1x 2-input OR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3625" y="4159448"/>
            <a:ext cx="13811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Calibri"/>
              </a:rPr>
              <a:t>1x 2-input AND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4300" y="4159448"/>
            <a:ext cx="1390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Calibri"/>
              </a:rPr>
              <a:t>1x 3-input AND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4521398"/>
            <a:ext cx="16478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Calibri"/>
              </a:rPr>
              <a:t>2x NOT gates (Inverters)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159198"/>
            <a:ext cx="6355109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987873"/>
            <a:ext cx="6355109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3816548"/>
            <a:ext cx="6355109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4645223"/>
            <a:ext cx="6355109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3425" y="235446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3425" y="318313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3425" y="401181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3425" y="4930973"/>
            <a:ext cx="302865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309" y="1241970"/>
            <a:ext cx="4465290" cy="52079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Calibri"/>
              </a:rPr>
              <a:t>VIRTUAL PROTOTYPING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Simulation Procedure in Logisim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" y="235446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318313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401181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4930973"/>
            <a:ext cx="588615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2321123"/>
            <a:ext cx="631328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Calibri"/>
              </a:rPr>
              <a:t>Add Input Pins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2521148"/>
            <a:ext cx="6012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Calibri"/>
              </a:rPr>
              <a:t>Place three input pins labeled D, M, and O (use poke tool to toggle logic levels).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3149798"/>
            <a:ext cx="59507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Calibri"/>
              </a:rPr>
              <a:t>Wire Logic 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" y="3349823"/>
            <a:ext cx="5667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Calibri"/>
              </a:rPr>
              <a:t>Connect AND, OR, two NOT, and one 3-input AND gate from Gates library.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625" y="3978473"/>
            <a:ext cx="41005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Calibri"/>
              </a:rPr>
              <a:t>Attach Output Indicators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" y="4178498"/>
            <a:ext cx="3905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Calibri"/>
              </a:rPr>
              <a:t>Connect two LED probes labeled BRIGHT and DIM.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690" y="4807148"/>
            <a:ext cx="721848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Calibri"/>
              </a:rPr>
              <a:t>Test &amp; 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690" y="5007173"/>
            <a:ext cx="5595044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Calibri"/>
              </a:rPr>
              <a:t>Poke all 8 combinations &amp; execute Project &gt; Analyze Circuit to confirm exact match.</a:t>
            </a:r>
          </a:p>
        </p:txBody>
      </p:sp>
      <p:pic>
        <p:nvPicPr>
          <p:cNvPr id="1026" name="Picture 2" descr="Logisim Circuit Simulation Interfa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915" y="2309790"/>
            <a:ext cx="4296194" cy="270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8812" y="5211960"/>
            <a:ext cx="8334375" cy="4857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928812" y="5211960"/>
            <a:ext cx="3810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8162" y="2864048"/>
            <a:ext cx="35388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76997" y="2864048"/>
            <a:ext cx="1211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88309" y="2864048"/>
            <a:ext cx="14132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01581" y="2864048"/>
            <a:ext cx="1615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16664" y="2864048"/>
            <a:ext cx="10093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016" y="2864048"/>
            <a:ext cx="706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32652" y="2864048"/>
            <a:ext cx="1621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8162" y="3292673"/>
            <a:ext cx="35388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76997" y="3292673"/>
            <a:ext cx="1211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88309" y="3292673"/>
            <a:ext cx="14132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01581" y="3292673"/>
            <a:ext cx="1615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16664" y="3292673"/>
            <a:ext cx="10093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326016" y="3292673"/>
            <a:ext cx="706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032652" y="3292673"/>
            <a:ext cx="1621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8162" y="3721298"/>
            <a:ext cx="35388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076997" y="3721298"/>
            <a:ext cx="1211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88309" y="3721298"/>
            <a:ext cx="14132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01581" y="3721298"/>
            <a:ext cx="1615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16664" y="3721298"/>
            <a:ext cx="10093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26016" y="3721298"/>
            <a:ext cx="706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32652" y="3721298"/>
            <a:ext cx="1621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8162" y="4149923"/>
            <a:ext cx="35388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76997" y="4149923"/>
            <a:ext cx="1211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288309" y="4149923"/>
            <a:ext cx="14132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701581" y="4149923"/>
            <a:ext cx="1615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16664" y="4149923"/>
            <a:ext cx="10093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326016" y="4149923"/>
            <a:ext cx="706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32652" y="4149923"/>
            <a:ext cx="1621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8162" y="4578548"/>
            <a:ext cx="35388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076997" y="4578548"/>
            <a:ext cx="1211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288309" y="4578548"/>
            <a:ext cx="14132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01581" y="4578548"/>
            <a:ext cx="1615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316664" y="4578548"/>
            <a:ext cx="10093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326016" y="4578548"/>
            <a:ext cx="706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032652" y="4578548"/>
            <a:ext cx="1621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631239" y="2535435"/>
            <a:ext cx="419100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631239" y="2964060"/>
            <a:ext cx="419100" cy="247650"/>
          </a:xfrm>
          <a:prstGeom prst="roundRect">
            <a:avLst>
              <a:gd name="adj" fmla="val 2307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516939" y="3392685"/>
            <a:ext cx="6477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631239" y="3821310"/>
            <a:ext cx="419100" cy="247650"/>
          </a:xfrm>
          <a:prstGeom prst="roundRect">
            <a:avLst>
              <a:gd name="adj" fmla="val 2307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516939" y="4249935"/>
            <a:ext cx="6477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631239" y="4678560"/>
            <a:ext cx="419100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33400" y="1982985"/>
            <a:ext cx="11125200" cy="30384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533400" y="1982985"/>
          <a:ext cx="11115671" cy="3038475"/>
        </p:xfrm>
        <a:graphic>
          <a:graphicData uri="http://schemas.openxmlformats.org/drawingml/2006/table">
            <a:tbl>
              <a:tblPr/>
              <a:tblGrid>
                <a:gridCol w="3538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6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1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406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Calibri"/>
                        </a:rPr>
                        <a:t>Time Segment / Event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Calibri"/>
                        </a:rPr>
                        <a:t>D (Dark)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Calibri"/>
                        </a:rPr>
                        <a:t>M (Motion)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Calibri"/>
                        </a:rPr>
                        <a:t>O (Override)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Calibri"/>
                        </a:rPr>
                        <a:t>BRIGHT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Calibri"/>
                        </a:rPr>
                        <a:t>DIM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Calibri"/>
                        </a:rPr>
                        <a:t>System 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06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Daytime (Passer-by passes)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06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Dusk / Night begins (No motion)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06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Vehicle arrives at night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06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Vehicle departs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06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Manual override switch flipped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 /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 /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07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Dawn / Sunlight returns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Calibri"/>
              </a:rPr>
              <a:t>TIMELINE TEST EXECUTION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Simulated Day-Night Scenario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57412" y="5364360"/>
            <a:ext cx="98940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Calibri"/>
              </a:rPr>
              <a:t>Verification Result:</a:t>
            </a:r>
            <a:r>
              <a:rPr sz="1125" b="0" i="0" u="none">
                <a:solidFill>
                  <a:srgbClr val="334155"/>
                </a:solidFill>
                <a:latin typeface="Calibri"/>
              </a:rPr>
              <a:t> Time steps 0 → 11 transition flawlessly without state race conditions or forbidden output overlap.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83614" y="2573535"/>
            <a:ext cx="514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Calibri"/>
              </a:rPr>
              <a:t>OFF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83614" y="3002160"/>
            <a:ext cx="514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B45309"/>
                </a:solidFill>
                <a:latin typeface="Calibri"/>
              </a:rPr>
              <a:t>DIM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314" y="3430785"/>
            <a:ext cx="742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Calibri"/>
              </a:rPr>
              <a:t>BRIGHT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83614" y="3859410"/>
            <a:ext cx="514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B45309"/>
                </a:solidFill>
                <a:latin typeface="Calibri"/>
              </a:rPr>
              <a:t>DIM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69314" y="4288035"/>
            <a:ext cx="742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Calibri"/>
              </a:rPr>
              <a:t>BRIGHT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83614" y="4716660"/>
            <a:ext cx="514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Calibri"/>
              </a:rPr>
              <a:t>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187773"/>
            <a:ext cx="649218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3368873"/>
            <a:ext cx="649218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549973"/>
            <a:ext cx="6492180" cy="942975"/>
          </a:xfrm>
          <a:prstGeom prst="roundRect">
            <a:avLst>
              <a:gd name="adj" fmla="val 1212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380" y="1241970"/>
            <a:ext cx="4328219" cy="519692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380" y="1241970"/>
            <a:ext cx="4328219" cy="519692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2416373"/>
            <a:ext cx="142875" cy="161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3597473"/>
            <a:ext cx="200025" cy="1619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4759523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Calibri"/>
              </a:rPr>
              <a:t>SCOPE &amp; REAL-WORLD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Extensions and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2387798"/>
            <a:ext cx="7995921" cy="209550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284C7"/>
                </a:solidFill>
                <a:latin typeface="Calibri"/>
              </a:rPr>
              <a:t>Sequential Extension (Hold Timer)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2654498"/>
            <a:ext cx="618738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Calibri"/>
              </a:rPr>
              <a:t>Add a counter + D flip-flop to keep the lamp BRIGHT for N clock cycles after motion stops. (Integrates Module 3 sequential logic concepts).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3568898"/>
            <a:ext cx="7995921" cy="209550"/>
          </a:xfrm>
          <a:prstGeom prst="rect">
            <a:avLst/>
          </a:prstGeom>
          <a:noFill/>
        </p:spPr>
        <p:txBody>
          <a:bodyPr wrap="none" lIns="2762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Calibri"/>
              </a:rPr>
              <a:t>Practical Deployment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3835598"/>
            <a:ext cx="618738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Calibri"/>
              </a:rPr>
              <a:t>Campus roads, municipal parking lots, express highways, tunnels, and smart residential lanes.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4730948"/>
            <a:ext cx="8045927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91B1B"/>
                </a:solidFill>
                <a:latin typeface="Calibri"/>
              </a:rPr>
              <a:t>System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375" y="4969073"/>
            <a:ext cx="622548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F1D1D"/>
                </a:solidFill>
                <a:latin typeface="Calibri"/>
              </a:rPr>
              <a:t>Pure gates react instantaneously: flickering sensor noise causes light flicker; missing fault detection.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5972026"/>
            <a:ext cx="11125200" cy="466725"/>
          </a:xfrm>
          <a:prstGeom prst="roundRect">
            <a:avLst>
              <a:gd name="adj" fmla="val 2040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487810"/>
            <a:ext cx="6419850" cy="2238375"/>
          </a:xfrm>
          <a:prstGeom prst="roundRect">
            <a:avLst>
              <a:gd name="adj" fmla="val 5957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219950" y="2487810"/>
            <a:ext cx="4438650" cy="2238375"/>
          </a:xfrm>
          <a:prstGeom prst="roundRect">
            <a:avLst>
              <a:gd name="adj" fmla="val 5957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1525" y="3573660"/>
            <a:ext cx="5943600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58075" y="3078360"/>
            <a:ext cx="39624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58075" y="3535560"/>
            <a:ext cx="39624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58075" y="3078360"/>
            <a:ext cx="28575" cy="3238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58075" y="3535560"/>
            <a:ext cx="28575" cy="3238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106935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154685"/>
            <a:ext cx="12382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Calibri"/>
              </a:rPr>
              <a:t>SUMMARY &amp; BIBLIOGRAPHY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Calibri"/>
              </a:rPr>
              <a:t>Conclusion &amp; Key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105376"/>
            <a:ext cx="2190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0" y="6119663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0F2FE"/>
                </a:solidFill>
                <a:latin typeface="Calibri"/>
              </a:rPr>
              <a:t>Department of ECE  •  26EC1202E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2725935"/>
            <a:ext cx="7800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libri"/>
              </a:rPr>
              <a:t>Project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078360"/>
            <a:ext cx="6038850" cy="3619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Calibri"/>
              </a:rPr>
              <a:t>A 3-input, 2-output gate network successfully delivers accurate OFF, DIM, and BRIGHT street light control.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687960"/>
            <a:ext cx="5810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2E8F0"/>
                </a:solidFill>
                <a:latin typeface="Calibri"/>
              </a:rPr>
              <a:t>BRIGHT = O + D·M  |  DIM = D·M′·O′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4126110"/>
            <a:ext cx="6038850" cy="3619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Calibri"/>
              </a:rPr>
              <a:t>Simulation in Logisim confirms exact correspondence with truth table and day-night scenario requirements.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8075" y="2725935"/>
            <a:ext cx="47339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Calibri"/>
              </a:rPr>
              <a:t>Academic 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0" y="3078360"/>
            <a:ext cx="4572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Calibri"/>
              </a:rPr>
              <a:t>Mano &amp; Ciletti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0" y="3249810"/>
            <a:ext cx="4572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Calibri"/>
              </a:rPr>
              <a:t>Digital Design, Global Edition, Pearson, 2018.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0" y="3535560"/>
            <a:ext cx="4572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Calibri"/>
              </a:rPr>
              <a:t>Floyd, Thomas 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0" y="3707010"/>
            <a:ext cx="4572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Calibri"/>
              </a:rPr>
              <a:t>Digital Fundamentals, 11th Ed., Pearson India, 2014.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976</Words>
  <Application>Microsoft Office PowerPoint</Application>
  <PresentationFormat>Widescreen</PresentationFormat>
  <Paragraphs>284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MS PGothic</vt:lpstr>
      <vt:lpstr>Calibri</vt:lpstr>
      <vt:lpstr>JetBrains Mono</vt:lpstr>
      <vt:lpstr>Plus Jakarta Sans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Sathwika Santhoshi</dc:creator>
  <cp:keywords/>
  <dc:description>generated using python-pptx</dc:description>
  <cp:lastModifiedBy>Sathwika</cp:lastModifiedBy>
  <cp:revision>7</cp:revision>
  <dcterms:created xsi:type="dcterms:W3CDTF">2013-01-27T09:14:16Z</dcterms:created>
  <dcterms:modified xsi:type="dcterms:W3CDTF">2026-10-07T14:05:14Z</dcterms:modified>
  <cp:category/>
</cp:coreProperties>
</file>